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25"/>
  </p:notesMasterIdLst>
  <p:sldIdLst>
    <p:sldId id="283" r:id="rId2"/>
    <p:sldId id="257" r:id="rId3"/>
    <p:sldId id="282" r:id="rId4"/>
    <p:sldId id="259" r:id="rId5"/>
    <p:sldId id="291" r:id="rId6"/>
    <p:sldId id="290" r:id="rId7"/>
    <p:sldId id="288" r:id="rId8"/>
    <p:sldId id="278" r:id="rId9"/>
    <p:sldId id="273" r:id="rId10"/>
    <p:sldId id="262" r:id="rId11"/>
    <p:sldId id="281" r:id="rId12"/>
    <p:sldId id="292" r:id="rId13"/>
    <p:sldId id="296" r:id="rId14"/>
    <p:sldId id="279" r:id="rId15"/>
    <p:sldId id="284" r:id="rId16"/>
    <p:sldId id="285" r:id="rId17"/>
    <p:sldId id="286" r:id="rId18"/>
    <p:sldId id="295" r:id="rId19"/>
    <p:sldId id="280" r:id="rId20"/>
    <p:sldId id="293" r:id="rId21"/>
    <p:sldId id="277" r:id="rId22"/>
    <p:sldId id="289" r:id="rId23"/>
    <p:sldId id="29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86"/>
  </p:normalViewPr>
  <p:slideViewPr>
    <p:cSldViewPr snapToGrid="0">
      <p:cViewPr>
        <p:scale>
          <a:sx n="75" d="100"/>
          <a:sy n="75" d="100"/>
        </p:scale>
        <p:origin x="-522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66256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133DCD37-0C3F-12BB-708C-15A0BFB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B3D30803-6188-6E87-DDB6-6562A9E17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DC8AB23-C1B1-CB09-E0BB-C9AAC489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224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9115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591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7524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429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421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324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109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803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64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320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463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4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slow">
    <p:wheel spokes="1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hree282005/Agri-Friend-Bot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products/watsonx-ai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killsbuild.org/" TargetMode="External"/><Relationship Id="rId5" Type="http://schemas.openxmlformats.org/officeDocument/2006/relationships/hyperlink" Target="https://www.searchapi.io/" TargetMode="External"/><Relationship Id="rId4" Type="http://schemas.openxmlformats.org/officeDocument/2006/relationships/hyperlink" Target="https://docs.langflow.org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1050" dirty="0" smtClean="0"/>
              <a:t>.</a:t>
            </a:r>
            <a:endParaRPr lang="en-IN" sz="10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300" y="4322763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 15: AI-Assisted Yield Trend Analysis and Farm Planning System</a:t>
            </a:r>
            <a:endParaRPr lang="en-US" sz="32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76993" y="992968"/>
            <a:ext cx="1023801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u="sng" dirty="0" err="1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sz="4400" b="1" u="sng" dirty="0">
                <a:latin typeface="Times New Roman" pitchFamily="18" charset="0"/>
                <a:cs typeface="Times New Roman" pitchFamily="18" charset="0"/>
              </a:rPr>
              <a:t> AI Hackathon: Building Intelligent Agents with IBM Granite and LangFlow</a:t>
            </a:r>
            <a:endParaRPr lang="en-IN" sz="44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351966"/>
            <a:ext cx="7301728" cy="74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002060"/>
              </a:buClr>
              <a:buSzPts val="3500"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</a:t>
            </a:r>
            <a:r>
              <a:rPr lang="en-US" sz="2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YieldVision</a:t>
            </a:r>
            <a:endParaRPr lang="en-US" sz="2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987577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16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036054703"/>
              </p:ext>
            </p:extLst>
          </p:nvPr>
        </p:nvGraphicFramePr>
        <p:xfrm>
          <a:off x="1596852" y="1545771"/>
          <a:ext cx="9593662" cy="476974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2675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19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7555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505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94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TEAM MEMBER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197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Shrilakshmi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Badiger</a:t>
                      </a:r>
                      <a:endParaRPr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shrilakshmic@kssem.edu.in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8217048057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3598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Vamshi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Krishna C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vamshikrishnac@kssem.edu.in</a:t>
                      </a:r>
                      <a:endParaRPr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84311 61251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197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Akash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endParaRPr sz="20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akashs@kssem.edu.in</a:t>
                      </a:r>
                      <a:endParaRPr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6360848864</a:t>
                      </a:r>
                      <a:endParaRPr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526" y="5171159"/>
            <a:ext cx="829107" cy="1011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265" y="2616055"/>
            <a:ext cx="807469" cy="10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265" y="3836322"/>
            <a:ext cx="918368" cy="1159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804672" y="1188720"/>
            <a:ext cx="9139428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Problem: Farming "Blind" in a Changing World</a:t>
            </a:r>
          </a:p>
          <a:p>
            <a:pPr algn="just">
              <a:lnSpc>
                <a:spcPct val="150000"/>
              </a:lnSpc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⚠️ </a:t>
            </a:r>
            <a:r>
              <a:rPr lang="en-US" sz="1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"Why" Gap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Farmers know </a:t>
            </a:r>
            <a:r>
              <a:rPr lang="en-US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they lose a crop, but they rarely know </a:t>
            </a:r>
            <a:r>
              <a:rPr lang="en-US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why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Was it the temperature spike in Month 2? Or the soil pH shift in Month 3? Without identifying the 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 cause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they are doomed to repeat the same mistakes.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🧩 </a:t>
            </a:r>
            <a:r>
              <a:rPr lang="en-US" sz="1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Data Maze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Critical clues are scattered everywhere—soil health cards, weather apps, market websites, and historical notebooks. It is 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humanly impossible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for a farmer to mentally connect these thousands of data points to find patterns.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📉 </a:t>
            </a:r>
            <a:r>
              <a:rPr lang="en-US" sz="1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Intuition is Failing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"Grandfather’s knowledge" no longer works. Climate change has rewritten the rules. Relying on intuition instead of data is no longer farming; it is 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gambling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💸 </a:t>
            </a:r>
            <a:r>
              <a:rPr lang="en-US" sz="1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Consequence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High input costs + Unpredictable yields = 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Financial Instability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Farmers need a tool to turn hindsight into foresight.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C57FE32-8AA8-E540-E0AA-C9737C71A0E2}"/>
              </a:ext>
            </a:extLst>
          </p:cNvPr>
          <p:cNvSpPr txBox="1"/>
          <p:nvPr/>
        </p:nvSpPr>
        <p:spPr>
          <a:xfrm>
            <a:off x="944755" y="524775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44C99C-C879-4B03-F7F7-7306F7D33083}"/>
              </a:ext>
            </a:extLst>
          </p:cNvPr>
          <p:cNvSpPr txBox="1"/>
          <p:nvPr/>
        </p:nvSpPr>
        <p:spPr>
          <a:xfrm>
            <a:off x="1005840" y="1584102"/>
            <a:ext cx="102687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Title: Meet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YieldVision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The "Digital Agronomy Team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Core Concept: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 didn't just build a </a:t>
            </a:r>
            <a:r>
              <a:rPr lang="en-US" sz="1800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 built an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that mimics a team of human experts working in unison.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🕵️ Agent 1: The "Detective" (Yield Forensics):</a:t>
            </a:r>
          </a:p>
          <a:p>
            <a:pPr lvl="1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Role: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Ingests raw historical data (soil, inputs, harvest logs).</a:t>
            </a:r>
          </a:p>
          <a:p>
            <a:pPr lvl="1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Task: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Granite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find hidden correlations (e.g.,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"Yield dropped 15% when Potassium was &lt; 20kg"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US" sz="18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Outcome: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Solves the "Mystery" of past failures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44C99C-C879-4B03-F7F7-7306F7D33083}"/>
              </a:ext>
            </a:extLst>
          </p:cNvPr>
          <p:cNvSpPr txBox="1"/>
          <p:nvPr/>
        </p:nvSpPr>
        <p:spPr>
          <a:xfrm>
            <a:off x="1005840" y="1584102"/>
            <a:ext cx="10268712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🌐 Agent 2: Live Research (The Scout)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Connects to the live web via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fetch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current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2026 weather forecasts, market rates, and pest alerts.</a:t>
            </a:r>
          </a:p>
          <a:p>
            <a:pPr algn="just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Value: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Ensures advice is based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today's reality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not outdated training data.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📋 Agent 3: Strategic Planning (The Planner)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Synthesizes historical lessons with real-time data to generate a specific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Action Plan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Value: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Delivers a complete sowing-to-harvest schedule tailored to the farm.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612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6526727-ECCC-12A7-1A74-4C72030B01EA}"/>
              </a:ext>
            </a:extLst>
          </p:cNvPr>
          <p:cNvSpPr txBox="1"/>
          <p:nvPr/>
        </p:nvSpPr>
        <p:spPr>
          <a:xfrm>
            <a:off x="793141" y="1860175"/>
            <a:ext cx="1026871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💰 Economic Security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Shifts farmers from "survival mode"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profit-oriented farming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by removing costly guesswork from their decisions.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⛅ Climate Resilience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Provides instant, real-time advice to handle sudden weather changes, replacing outdated "generational knowledge."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🤝 Equality in Technology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Brings enterprise-level data science to small-scale farmers via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simple, accessible chat interface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leveling the playing field.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A9D9ED1-DFE2-2CB1-E07B-2D3C44A85C9C}"/>
              </a:ext>
            </a:extLst>
          </p:cNvPr>
          <p:cNvSpPr txBox="1"/>
          <p:nvPr/>
        </p:nvSpPr>
        <p:spPr>
          <a:xfrm>
            <a:off x="1009041" y="1008009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Need of project 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1157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81273CA-7EF7-F715-EF93-66F231F3ABD1}"/>
              </a:ext>
            </a:extLst>
          </p:cNvPr>
          <p:cNvSpPr txBox="1"/>
          <p:nvPr/>
        </p:nvSpPr>
        <p:spPr>
          <a:xfrm>
            <a:off x="1005840" y="1584102"/>
            <a:ext cx="1011936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Who Benefits from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YieldVision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👨‍🌾 Small-Holder Farmers (The Decision Makers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Gains access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enterprise-grade yield forensics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on a simple smartphone, enabling expert-level planning without expensive consultants.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🔬 Researchers &amp; Students (The Analysts)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Transforms weeks of manual data compilation into instant analysis, acting as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Rapid Research Assistant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for regional trend studies.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📋 Field Officers /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Krishi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Mitras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(The Advisors)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Empowers local advisors to validate their recommendations with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scientific data proof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helping them build trust and drive faster adoption of modern practices</a:t>
            </a:r>
            <a:r>
              <a:rPr lang="en-US" sz="18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987C414-2D49-9E5D-A5D6-CF94524B9BE5}"/>
              </a:ext>
            </a:extLst>
          </p:cNvPr>
          <p:cNvSpPr txBox="1"/>
          <p:nvPr/>
        </p:nvSpPr>
        <p:spPr>
          <a:xfrm>
            <a:off x="1005840" y="986605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10053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765808"/>
            <a:ext cx="10515600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1.Orchestration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Langflow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(Visual Chain Building).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2.LLM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Model: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IBM Granite (ibm-granite-3-2-8b).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3.Live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Web Data: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(Google Search Integration).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4.Data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Processing: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Parse Data Component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(Cleaning unstructured web text).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5.Infrastructure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IBM Cloud &amp; Watsonx.ai.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064264" y="82760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9641836" cy="366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Beyond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True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Agentic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Innovation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Causal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Forensics (The "Why")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Moves beyond generic farming tips to identify specific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root causes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of yield failure, correlating historical weather/input data to final harvest outcomes.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Web Awareness (The "Now")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Overcomes AI training cut-offs by connecting to the live web via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fetching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current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2026 weather, market rates, and pest alerts.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Granite-Guarded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Reliability (The "Trust")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Built specifically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Granite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minimize "hallucinations," ensuring bias-free, regulation-compliant, and safe advice for critical livelihood decisions.</a:t>
            </a: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508000" y="734080"/>
            <a:ext cx="7302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97" y="1562100"/>
            <a:ext cx="11131550" cy="4525963"/>
          </a:xfr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956690" y="781494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Chat Input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The interface where the farmer enters natural language queries (e.g.,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"Why did my cotton yield drop?"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or instructions for the agent.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Watsonx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AI Agent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The "Brain" of the system. It uses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IBM Granite-3.2-8b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model to synthesize the uploaded historical data with live web research to generate the final advice.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File Component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Critical for Yield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Allows farmers to upload historical farm records (CSV/Excel/PDF) so the agent can analyze past trends and establish a yield baseline.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842390" y="811427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Chat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Displays the final, structured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Yield Analysis Report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Farm Action Plan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the user in a readable format.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&amp; Parse Data (Custom Tools)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</a:t>
            </a:r>
          </a:p>
          <a:p>
            <a:pPr marL="2857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Fetches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live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2026 weather and market data.</a:t>
            </a:r>
          </a:p>
          <a:p>
            <a:pPr marL="2857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Parse Data: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Cleans unstructured web text (removes HTML/Ads) to ensure the AI analyzes only high-quality information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API Request (The Live Sensor)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serves as the agent's digital eyes, fetching real-time weather and market data to ensure agronomic advice is based on current 2026 conditions rather than static, outdated information</a:t>
            </a:r>
            <a:r>
              <a:rPr lang="en-US" sz="1800" dirty="0" smtClean="0"/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9400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508000" y="734080"/>
            <a:ext cx="7302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/>
              <a:t>Input Screenshot 3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97" y="1562100"/>
            <a:ext cx="11131550" cy="4525963"/>
          </a:xfrm>
        </p:spPr>
      </p:pic>
    </p:spTree>
    <p:extLst>
      <p:ext uri="{BB962C8B-B14F-4D97-AF65-F5344CB8AC3E}">
        <p14:creationId xmlns:p14="http://schemas.microsoft.com/office/powerpoint/2010/main" val="246852713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8079FEC-4447-C4FA-64A4-CB532564DAF6}"/>
              </a:ext>
            </a:extLst>
          </p:cNvPr>
          <p:cNvSpPr txBox="1"/>
          <p:nvPr/>
        </p:nvSpPr>
        <p:spPr>
          <a:xfrm>
            <a:off x="838779" y="708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</a:t>
            </a:r>
            <a:r>
              <a:rPr lang="en-US" sz="2400" b="1" dirty="0"/>
              <a:t>2</a:t>
            </a:r>
            <a:r>
              <a:rPr lang="en-US" sz="2400" b="1" dirty="0" smtClean="0"/>
              <a:t> </a:t>
            </a:r>
            <a:r>
              <a:rPr lang="en-US" sz="2400" b="1" dirty="0"/>
              <a:t>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79" y="1514854"/>
            <a:ext cx="10058400" cy="439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9E2832E4-AC39-7A49-D4B6-C1A4B148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D23FCBA-FC00-378F-C117-12DC1F4FD6E0}"/>
              </a:ext>
            </a:extLst>
          </p:cNvPr>
          <p:cNvSpPr txBox="1"/>
          <p:nvPr/>
        </p:nvSpPr>
        <p:spPr>
          <a:xfrm>
            <a:off x="1065318" y="714919"/>
            <a:ext cx="5466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</a:t>
            </a:r>
            <a:r>
              <a:rPr lang="en-US" sz="2400" b="1" dirty="0" smtClean="0"/>
              <a:t>3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B59E40-7B3E-CFB4-3FD9-6C10E068F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1347039"/>
            <a:ext cx="3632200" cy="473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50437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FE5FD7-2292-570F-1397-1E9287F8CB9D}"/>
              </a:ext>
            </a:extLst>
          </p:cNvPr>
          <p:cNvSpPr txBox="1"/>
          <p:nvPr/>
        </p:nvSpPr>
        <p:spPr>
          <a:xfrm>
            <a:off x="1065319" y="734314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Output Screenshot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19" y="1658620"/>
            <a:ext cx="10058400" cy="445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F9D04B6-7646-B3BF-9A84-684A467FADAB}"/>
              </a:ext>
            </a:extLst>
          </p:cNvPr>
          <p:cNvSpPr txBox="1"/>
          <p:nvPr/>
        </p:nvSpPr>
        <p:spPr>
          <a:xfrm>
            <a:off x="783936" y="795178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Output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Screenshot 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59560"/>
            <a:ext cx="10058400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F9D04B6-7646-B3BF-9A84-684A467FADAB}"/>
              </a:ext>
            </a:extLst>
          </p:cNvPr>
          <p:cNvSpPr txBox="1"/>
          <p:nvPr/>
        </p:nvSpPr>
        <p:spPr>
          <a:xfrm>
            <a:off x="783936" y="845978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Screenshot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36" y="1651000"/>
            <a:ext cx="100584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06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6620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2400" b="1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825500" y="1393947"/>
            <a:ext cx="9671812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"Leaf Doctor" (Computer Vision Integration)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Feature: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Allow farmers to upload photos of crop leaves.</a:t>
            </a: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Goal: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Instant disease diagnosis and pest detection using image recognition models, linked directly to yield impact predictions.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Voice-First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Interface (Accessibility)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Feature: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Full Speech-to-Text and Text-to-Speech support.</a:t>
            </a: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Goal: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Break the literacy barrier. Farmers can simply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talk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YieldVision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their native dialect instead of typing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079500" y="767182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749300" y="1604739"/>
            <a:ext cx="9748012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Hyper-Localization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(Multilingual Support)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Feature: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Deploying models for regional languages (Kannada, Hindi, Tamil, Telugu).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Goal: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that high-level data science is accessible to the grassroots farmer in the language they trust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50" dirty="0">
              <a:solidFill>
                <a:srgbClr val="2B354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81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1218724" y="68993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15507A2F-9304-7475-5C74-2BAA93879CFE}"/>
              </a:ext>
            </a:extLst>
          </p:cNvPr>
          <p:cNvSpPr/>
          <p:nvPr/>
        </p:nvSpPr>
        <p:spPr>
          <a:xfrm>
            <a:off x="1116531" y="1393947"/>
            <a:ext cx="9380781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4423EF4-BB52-2693-03DD-9F7D92D05218}"/>
              </a:ext>
            </a:extLst>
          </p:cNvPr>
          <p:cNvSpPr/>
          <p:nvPr/>
        </p:nvSpPr>
        <p:spPr>
          <a:xfrm>
            <a:off x="706695" y="1765611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16530" y="1529296"/>
            <a:ext cx="6063915" cy="472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</a:t>
            </a: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github.com/Shree282005/Agri-Friend-Bot</a:t>
            </a: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24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</a:t>
            </a: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IBM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Watsonx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Documentation: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https://www.ibm.com/products/watsonx-ai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Langflow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Official Docs: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4"/>
              </a:rPr>
              <a:t>https://docs.langflow.org/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SearchAPI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Real-Time Engine: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5"/>
              </a:rPr>
              <a:t>https://www.searchapi.io/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Edunet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Foundation &amp; IBM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SkillsBuild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6"/>
              </a:rPr>
              <a:t>https://skillsbuild.org/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B354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2000" dirty="0">
              <a:solidFill>
                <a:srgbClr val="2B354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rgbClr val="2B354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endParaRPr sz="2000" b="0" i="0" u="none" strike="noStrike" cap="none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8800" dirty="0" smtClean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Thank you!</a:t>
            </a:r>
            <a:br>
              <a:rPr lang="en-IN" sz="8800" dirty="0" smtClean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</a:br>
            <a:r>
              <a:rPr lang="en-IN" sz="2400" dirty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  <a:r>
              <a:rPr lang="en-IN" sz="2400" dirty="0" smtClean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Thank you for your time and interest.</a:t>
            </a:r>
            <a:endParaRPr sz="2400" b="0" i="0" u="none" strike="noStrike" cap="none" dirty="0">
              <a:solidFill>
                <a:srgbClr val="000000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1966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1587</TotalTime>
  <Words>1134</Words>
  <Application>Microsoft Office PowerPoint</Application>
  <PresentationFormat>Custom</PresentationFormat>
  <Paragraphs>118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</vt:lpstr>
      <vt:lpstr>PowerPoint Presentation</vt:lpstr>
      <vt:lpstr>PowerPoint Presentation</vt:lpstr>
      <vt:lpstr>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LENOVO</cp:lastModifiedBy>
  <cp:revision>154</cp:revision>
  <dcterms:created xsi:type="dcterms:W3CDTF">2025-07-08T05:06:56Z</dcterms:created>
  <dcterms:modified xsi:type="dcterms:W3CDTF">2026-02-02T07:52:36Z</dcterms:modified>
</cp:coreProperties>
</file>